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Old Standard TT"/>
      <p:regular r:id="rId20"/>
      <p:bold r:id="rId21"/>
      <p: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regular.fntdata"/><Relationship Id="rId11" Type="http://schemas.openxmlformats.org/officeDocument/2006/relationships/slide" Target="slides/slide6.xml"/><Relationship Id="rId22" Type="http://schemas.openxmlformats.org/officeDocument/2006/relationships/font" Target="fonts/OldStandardTT-italic.fntdata"/><Relationship Id="rId10" Type="http://schemas.openxmlformats.org/officeDocument/2006/relationships/slide" Target="slides/slide5.xml"/><Relationship Id="rId21" Type="http://schemas.openxmlformats.org/officeDocument/2006/relationships/font" Target="fonts/OldStandardT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13997ba8a_0_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13997ba8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13997ba8a_0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13997ba8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13997ba8a_0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13997ba8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3997ba8a_0_1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13997ba8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13997ba8a_0_1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13997ba8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13997ba8a_0_1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13997ba8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13997ba8a_0_1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13997ba8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13997ba8a_0_1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13997ba8a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13997ba8a_0_19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13997ba8a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13997ba8a_0_2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13997ba8a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13997ba8a_0_2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13997ba8a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13997ba8a_0_2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13997ba8a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127.0.0.1:8000/hello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Quantitative Comparison of Docker Containers vs Multithreading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George Aslanidis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0" y="820825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Goal: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To understand when Multiple Docker Containers and Multithreading Should be Used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Comparing Two Execution Models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Multithreading (Gunicorn with 20 Threads)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Multiple Docker Containers (20 Containers)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Same Flask Application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Measure: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CPU Usage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Memory Usage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0"/>
            <a:ext cx="32604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descr="Docker logo"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3400" y="1446963"/>
            <a:ext cx="4305300" cy="2249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0" y="1171800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Threads: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Multiple threads in one process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Shared Memory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Lightweight and Efficient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Less Isolation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Containers: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Run as Separate Processes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Isolated Environments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Different Dependencies and Memory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Higher Resource Usage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0"/>
            <a:ext cx="32604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Concepts</a:t>
            </a:r>
            <a:endParaRPr/>
          </a:p>
        </p:txBody>
      </p:sp>
      <p:pic>
        <p:nvPicPr>
          <p:cNvPr descr="Docker logo"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3400" y="1446963"/>
            <a:ext cx="4305300" cy="2249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2310300" y="726125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Oracle VirtualBox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Linux Ubuntu 6.14.0-37-generic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0"/>
            <a:ext cx="32604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500" y="1367025"/>
            <a:ext cx="5391011" cy="397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0" y="1171800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Flask Application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0"/>
            <a:ext cx="32604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50" y="1949263"/>
            <a:ext cx="4371875" cy="27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620600" y="1171800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Dockerfile for the Creation of the Image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932325"/>
            <a:ext cx="4379480" cy="28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0" y="1171800"/>
            <a:ext cx="52083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Execution (Starting the Threads):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unicorn --threads 20 'app:create_app()'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Verification for the Threads: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s -eLf | grep gunicorn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Send 20 Requests: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for i in {1..20}; do curl </a:t>
            </a:r>
            <a:r>
              <a:rPr lang="en" u="sng">
                <a:solidFill>
                  <a:srgbClr val="96607D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http://127.0.0.1:8000/hello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&amp; done; wait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0"/>
            <a:ext cx="53160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Multithread Experiment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2275" y="2453250"/>
            <a:ext cx="4251724" cy="269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0" y="1171800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System is in Idle State (No Requests)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0"/>
            <a:ext cx="56355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Multithread Experiment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620600" y="1171800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During Concurrent Requests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7916"/>
            <a:ext cx="4620599" cy="2770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3400" y="1547925"/>
            <a:ext cx="4620599" cy="277030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0" y="4251400"/>
            <a:ext cx="42117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CPU: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0% - 1%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Memory: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1.018GB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620600" y="4251400"/>
            <a:ext cx="42117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CPU: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% - 8%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Memory: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1.02GB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0" y="1171800"/>
            <a:ext cx="52083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Image Creation: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ocker build -t flasktest 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Creation of 20 Docker Containers: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for i in {1..20}; do docker run -d -p $((8000+i)):8000 flasktest; done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Send 20 Requests: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for i in {1..20}; do curl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http://127.0.0.1:$((8000+i))/hello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&amp; done; wait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0"/>
            <a:ext cx="53160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Experiment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3800" y="2432400"/>
            <a:ext cx="4240201" cy="271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0" y="1171800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System is in Idle State (No Requests)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0"/>
            <a:ext cx="56355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Experiment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4620600" y="1171800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During Concurrent Requests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0" y="4251400"/>
            <a:ext cx="42117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CPU: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0% - 4%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Memory: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1.83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GB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620600" y="4251400"/>
            <a:ext cx="42117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CPU: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% - 5%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Memory: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1.83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GB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75" y="1547925"/>
            <a:ext cx="4461224" cy="282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0600" y="1547925"/>
            <a:ext cx="4461224" cy="2822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0" y="1171800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ocker stats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0"/>
            <a:ext cx="56355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Experiment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0" y="4251400"/>
            <a:ext cx="42117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CPU: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0.01% - 0.04%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Memory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1.83GB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Containers (Processes): 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20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0600"/>
            <a:ext cx="4315800" cy="273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ker logo"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3400" y="1761213"/>
            <a:ext cx="4305300" cy="2249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0" y="1171800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CPU Usage: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Similar in both cases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■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Multithreading: 0% - 8%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■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Docker Containers: 0% - 5%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Memory Usage: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Higher in Containers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■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1.83GB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Threads Share Memory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Containers Use Separate Resources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0"/>
            <a:ext cx="32604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pic>
        <p:nvPicPr>
          <p:cNvPr descr="Docker logo"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3400" y="1446963"/>
            <a:ext cx="4305300" cy="2249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0" y="1171800"/>
            <a:ext cx="4523400" cy="3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Multithreading: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Low Memory Usage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Efficient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Containers: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Higher Memory Usage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Isolation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Easier to Deploy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Better Scalability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0"/>
            <a:ext cx="3260400" cy="1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pic>
        <p:nvPicPr>
          <p:cNvPr descr="Docker logo"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3400" y="1446963"/>
            <a:ext cx="4305300" cy="2249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/>
        </p:nvSpPr>
        <p:spPr>
          <a:xfrm>
            <a:off x="332250" y="1515900"/>
            <a:ext cx="84795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BF0"/>
                </a:solidFill>
              </a:rPr>
              <a:t>[1]           “What is Docker?,” Docker Documentation. Accessed: Mar. 18, 2026. [Online]. Available: https://docs.docker.com/get-started/docker-overview/</a:t>
            </a:r>
            <a:endParaRPr sz="1100">
              <a:solidFill>
                <a:srgbClr val="FFFB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BF0"/>
                </a:solidFill>
              </a:rPr>
              <a:t>[2]           A. Silberschatz, P. B. Galvin, and G. Gagne, Operating System Concepts Essentials, 2nd ed. Hoboken, NJ, USA: Wiley, 2013.</a:t>
            </a:r>
            <a:endParaRPr sz="1100">
              <a:solidFill>
                <a:srgbClr val="FFFB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BF0"/>
                </a:solidFill>
              </a:rPr>
              <a:t>[3]           “Application Setup — Flask Documentation (3.1.x).” Accessed: Mar. 19, 2026. [Online]. Available: https://flask.palletsprojects.com/en/stable/tutorial/factory/</a:t>
            </a:r>
            <a:endParaRPr sz="1100">
              <a:solidFill>
                <a:srgbClr val="FFFB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BF0"/>
                </a:solidFill>
              </a:rPr>
              <a:t>[4]           “Gunicorn - Python WSGI HTTP Server for UNIX.” Accessed: Mar. 19, 2026. [Online]. Available: https://gunicorn.org/quickstart/</a:t>
            </a:r>
            <a:endParaRPr sz="1100">
              <a:solidFill>
                <a:srgbClr val="FFFBF0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BF0"/>
                </a:solidFill>
              </a:rPr>
              <a:t>[5]           “Looping Statements | Shell Script,” GeeksforGeeks. Accessed: Mar. 19, 2026. [Online]. Available: https://www.geeksforgeeks.org/linux-unix/looping-statements-shell-script/</a:t>
            </a:r>
            <a:endParaRPr sz="900">
              <a:solidFill>
                <a:srgbClr val="FFFB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2130750" y="0"/>
            <a:ext cx="48825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rgbClr val="FFFBF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Bibliography</a:t>
            </a:r>
            <a:endParaRPr sz="5400">
              <a:solidFill>
                <a:srgbClr val="FFFBF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